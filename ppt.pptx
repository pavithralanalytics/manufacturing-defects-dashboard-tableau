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3.jpg" ContentType="image/pn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57" r:id="rId4"/>
    <p:sldId id="261" r:id="rId5"/>
    <p:sldId id="258" r:id="rId6"/>
    <p:sldId id="262" r:id="rId7"/>
    <p:sldId id="263" r:id="rId8"/>
    <p:sldId id="264" r:id="rId9"/>
    <p:sldId id="265" r:id="rId10"/>
    <p:sldId id="266" r:id="rId11"/>
    <p:sldId id="267" r:id="rId12"/>
    <p:sldId id="259" r:id="rId13"/>
    <p:sldId id="26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30EC431-EBF7-49EA-AA26-04CC93471EA2}">
          <p14:sldIdLst>
            <p14:sldId id="256"/>
            <p14:sldId id="268"/>
            <p14:sldId id="257"/>
          </p14:sldIdLst>
        </p14:section>
        <p14:section name="dashboard" id="{EBB1F925-7F9E-470C-9083-282AA5F72294}">
          <p14:sldIdLst>
            <p14:sldId id="261"/>
            <p14:sldId id="258"/>
            <p14:sldId id="262"/>
            <p14:sldId id="263"/>
            <p14:sldId id="264"/>
            <p14:sldId id="265"/>
            <p14:sldId id="266"/>
            <p14:sldId id="267"/>
            <p14:sldId id="259"/>
            <p14:sldId id="260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9C9"/>
    <a:srgbClr val="9A0000"/>
    <a:srgbClr val="FFABAB"/>
    <a:srgbClr val="FF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B7FE3-8D63-4C13-A04B-AAE7A06090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8EABB3-0A98-4F00-AD51-32168A41A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7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objective of this project is to get a complete quality overview of the manufacturing process.</a:t>
            </a:r>
            <a:br>
              <a:rPr lang="en-US" dirty="0"/>
            </a:br>
            <a:r>
              <a:rPr lang="en-US" dirty="0"/>
              <a:t>I wanted to understand what types of defects occur, their severity, cost impact, and how trends change over months.</a:t>
            </a:r>
            <a:br>
              <a:rPr lang="en-US" dirty="0"/>
            </a:br>
            <a:r>
              <a:rPr lang="en-US" dirty="0"/>
              <a:t>It also helps identify which inspection method works best and what improvements can be recommended.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EABB3-0A98-4F00-AD51-32168A41AB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3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full dashboard I created.</a:t>
            </a:r>
            <a:br>
              <a:rPr lang="en-US" dirty="0"/>
            </a:br>
            <a:r>
              <a:rPr lang="en-US" dirty="0"/>
              <a:t>It includes KPIs, bar charts, line charts, and distribution charts.</a:t>
            </a:r>
            <a:br>
              <a:rPr lang="en-US" dirty="0"/>
            </a:br>
            <a:r>
              <a:rPr lang="en-US" dirty="0"/>
              <a:t>The layout is designed to quickly highlight defects, costs, and trends.</a:t>
            </a:r>
            <a:br>
              <a:rPr lang="en-US" dirty="0"/>
            </a:br>
            <a:r>
              <a:rPr lang="en-US" dirty="0"/>
              <a:t>Management can use this dashboard for monitoring and decision-making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EABB3-0A98-4F00-AD51-32168A41AB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89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KPIs give a quick summary of the dataset:</a:t>
            </a:r>
            <a:br>
              <a:rPr lang="en-US" dirty="0"/>
            </a:br>
            <a:r>
              <a:rPr lang="en-US" dirty="0"/>
              <a:t>We have 1000 total defects.</a:t>
            </a:r>
            <a:br>
              <a:rPr lang="en-US" dirty="0"/>
            </a:br>
            <a:r>
              <a:rPr lang="en-US" dirty="0"/>
              <a:t>The total repair cost is 507,627 and the average repair cost per defect is 508.</a:t>
            </a:r>
            <a:br>
              <a:rPr lang="en-US" dirty="0"/>
            </a:br>
            <a:r>
              <a:rPr lang="en-US" dirty="0"/>
              <a:t>Critical defects make up 33.3% of total defects, which is a major concern for product 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EABB3-0A98-4F00-AD51-32168A41AB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99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chart, minor defects are the highest at 358.</a:t>
            </a:r>
            <a:br>
              <a:rPr lang="en-US" dirty="0"/>
            </a:br>
            <a:r>
              <a:rPr lang="en-US" dirty="0"/>
              <a:t>However, critical defects are also very high at 333 — which indicates high risk and immediate attention.</a:t>
            </a:r>
            <a:br>
              <a:rPr lang="en-US" dirty="0"/>
            </a:br>
            <a:r>
              <a:rPr lang="en-US" dirty="0"/>
              <a:t>Moderate defects are slightly lower.</a:t>
            </a:r>
            <a:br>
              <a:rPr lang="en-US" dirty="0"/>
            </a:br>
            <a:r>
              <a:rPr lang="en-US" dirty="0"/>
              <a:t>Severity analysis helps understand where quality issues are more serious.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EABB3-0A98-4F00-AD51-32168A41AB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59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chart, surface defects are the highest at 353.</a:t>
            </a:r>
            <a:br>
              <a:rPr lang="en-US" dirty="0"/>
            </a:br>
            <a:r>
              <a:rPr lang="en-US" dirty="0"/>
              <a:t>This may indicate issues in handling, finishing, polishing, or packaging stages.</a:t>
            </a:r>
            <a:br>
              <a:rPr lang="en-US" dirty="0"/>
            </a:br>
            <a:r>
              <a:rPr lang="en-US" dirty="0"/>
              <a:t>Component and internal defects are slightly lower but still significant.</a:t>
            </a:r>
            <a:br>
              <a:rPr lang="en-US" dirty="0"/>
            </a:br>
            <a:r>
              <a:rPr lang="en-US" dirty="0"/>
              <a:t>Location analysis helps find where the manufacturing process needs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EABB3-0A98-4F00-AD51-32168A41AB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65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Structural defects are the highest at 352.</a:t>
            </a:r>
            <a:br>
              <a:rPr lang="en-US" dirty="0"/>
            </a:br>
            <a:r>
              <a:rPr lang="en-US" dirty="0"/>
              <a:t>Structural issues usually cost more to repair and can affect product safety.</a:t>
            </a:r>
            <a:br>
              <a:rPr lang="en-US" dirty="0"/>
            </a:br>
            <a:r>
              <a:rPr lang="en-US" dirty="0"/>
              <a:t>Functional defects come next, followed by cosmetic defects.</a:t>
            </a:r>
            <a:br>
              <a:rPr lang="en-US" dirty="0"/>
            </a:br>
            <a:r>
              <a:rPr lang="en-US" dirty="0"/>
              <a:t>This helps prioritize which defect types need urgent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EABB3-0A98-4F00-AD51-32168A41AB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72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cost is also highest for structural defects, which matches the previous slide.</a:t>
            </a:r>
            <a:br>
              <a:rPr lang="en-US" dirty="0"/>
            </a:br>
            <a:r>
              <a:rPr lang="en-US" dirty="0"/>
              <a:t>This means reducing structural issues can save a lot of money.</a:t>
            </a:r>
            <a:br>
              <a:rPr lang="en-US" dirty="0"/>
            </a:br>
            <a:r>
              <a:rPr lang="en-US" dirty="0"/>
              <a:t>Functional defects have moderate cost and cosmetic defects have the lowest.</a:t>
            </a:r>
            <a:br>
              <a:rPr lang="en-US" dirty="0"/>
            </a:br>
            <a:r>
              <a:rPr lang="en-US" dirty="0"/>
              <a:t>This slide shows how defect type affects financial impact.”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EABB3-0A98-4F00-AD51-32168A41AB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40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January to June, the number of defects consistently reduces from 191 to 151.</a:t>
            </a:r>
            <a:br>
              <a:rPr lang="en-US" dirty="0"/>
            </a:br>
            <a:r>
              <a:rPr lang="en-US" dirty="0"/>
              <a:t>This is a positive trend showing that quality control measures are working.</a:t>
            </a:r>
            <a:br>
              <a:rPr lang="en-US" dirty="0"/>
            </a:br>
            <a:r>
              <a:rPr lang="en-US" dirty="0"/>
              <a:t>Time-series analysis helps management track improvement over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EABB3-0A98-4F00-AD51-32168A41AB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56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and visual inspections have almost equal defect counts.</a:t>
            </a:r>
            <a:br>
              <a:rPr lang="en-US" dirty="0"/>
            </a:br>
            <a:r>
              <a:rPr lang="en-US" dirty="0"/>
              <a:t>However, automated inspection shows the lowest defects — only 297.</a:t>
            </a:r>
            <a:br>
              <a:rPr lang="en-US" dirty="0"/>
            </a:br>
            <a:r>
              <a:rPr lang="en-US" dirty="0"/>
              <a:t>This means automation is more reliable and has less human error.</a:t>
            </a:r>
            <a:br>
              <a:rPr lang="en-US" dirty="0"/>
            </a:br>
            <a:r>
              <a:rPr lang="en-US" dirty="0"/>
              <a:t>The company can consider increasing automated inspection.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EABB3-0A98-4F00-AD51-32168A41AB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81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 findings, I recommend increasing automated inspection, focusing on structural defect reduction, and performing root cause analysis on critical defects.</a:t>
            </a:r>
            <a:br>
              <a:rPr lang="en-US" dirty="0"/>
            </a:br>
            <a:r>
              <a:rPr lang="en-US" dirty="0"/>
              <a:t>Surface-level handling and finishing should be improved.</a:t>
            </a:r>
            <a:br>
              <a:rPr lang="en-US" dirty="0"/>
            </a:br>
            <a:r>
              <a:rPr lang="en-US" dirty="0"/>
              <a:t>Monthly monitoring should continue to maintain quality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EABB3-0A98-4F00-AD51-32168A41AB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830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this dashboard provides a complete 360-degree view of manufacturing quality.</a:t>
            </a:r>
            <a:br>
              <a:rPr lang="en-US" dirty="0"/>
            </a:br>
            <a:r>
              <a:rPr lang="en-US" dirty="0"/>
              <a:t>It helps the company reduce defects, control repair cost, and improve product quality.</a:t>
            </a:r>
            <a:br>
              <a:rPr lang="en-US" dirty="0"/>
            </a:br>
            <a:r>
              <a:rPr lang="en-US" dirty="0"/>
              <a:t>The insights support data-driven decision-making for manufacturing management.</a:t>
            </a:r>
            <a:br>
              <a:rPr lang="en-US" dirty="0"/>
            </a:br>
            <a:r>
              <a:rPr lang="en-US" dirty="0"/>
              <a:t>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EABB3-0A98-4F00-AD51-32168A41AB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92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EEF55-A0D0-59B1-0996-1B60EE517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28A89-FB9D-980D-2383-0F942E2E3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DFDC4-2C37-F4A7-3113-9717FB1B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4F624-D1EB-422C-9AA2-C8A01022507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35CE-D788-0B4E-6E9C-FB4A28CA4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F86CA-1376-0ADE-0CB1-F1E172765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06B1-FD17-488D-934C-AC7C7F58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6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BDCC8-AA60-8274-23FB-BD31CCBB3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12C2A-CA29-23A2-4C5B-0A09BB8EB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176B8-3E4E-BFBE-E589-1F9EE454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4F624-D1EB-422C-9AA2-C8A01022507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543E2-CDB1-21B1-4E64-E6F597E21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8BC62-DB7D-B163-1E9F-A3711D6D0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06B1-FD17-488D-934C-AC7C7F58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03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AA8A2-B86D-BC90-71A6-B35B2AC49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F13DF-2D46-4149-4CE8-4C915FE90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EA128-C2A0-9E73-6AE8-A3DBC174D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4F624-D1EB-422C-9AA2-C8A01022507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0C9CF-D588-A380-28B8-EAE8990D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C7173-261B-B359-95AD-477761B46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06B1-FD17-488D-934C-AC7C7F58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10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8B01-A34F-120D-1D9D-0C9C558B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BEEF-9C8E-BA81-2C14-971659496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97A6E-550F-5230-53F1-D66B1F206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AF551-1C97-1187-A5D6-FB73EFC7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4F624-D1EB-422C-9AA2-C8A01022507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B69B1-4398-C678-BB2F-7DCCD375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5872D-7046-A7CF-6BD5-7F4AB3E89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06B1-FD17-488D-934C-AC7C7F58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69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DC32B-ABBD-02FC-6C2B-69E45ABB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7E398-4B70-89B1-8671-C513DA8C0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37977-0EBD-3EF9-7BBB-E7C93545B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FC828D-D357-9DD7-4B5F-9A659F2E1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C4E50E-2F4B-CF2C-3E23-D09D6FEF3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0DAFD1-82C9-DF4A-9844-06FAA934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4F624-D1EB-422C-9AA2-C8A01022507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81AEC2-05F5-9790-92E2-AF568E47E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48DA39-2212-233D-6E71-45AEFCA72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06B1-FD17-488D-934C-AC7C7F58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65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C102D-1644-453E-764F-008C82003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02BF98-7D6A-662B-D37F-D17784F5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4F624-D1EB-422C-9AA2-C8A01022507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7CB6E-CABD-4AF5-2E20-8E75C9687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27A5F-3E4F-50C4-0BAE-5249E3469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06B1-FD17-488D-934C-AC7C7F58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29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72AD85-4646-F2EE-F989-3EC7EF89E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4F624-D1EB-422C-9AA2-C8A01022507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BA7915-3238-A248-4564-57751175B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7143E-74E0-D0EC-BC65-B95A5D94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06B1-FD17-488D-934C-AC7C7F58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6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78B6B-A4AB-F244-6C92-7B5219A3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B3A8A-8555-C56D-6190-0ADCF7D23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28242-2ACD-44C5-3F9A-95225D1BF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36493-1231-1C9F-281B-A60DEBCE7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4F624-D1EB-422C-9AA2-C8A01022507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F9725-9E6C-1544-5CE5-F02AE5CBB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B402A-F4D0-FECA-7317-6F94BFC0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06B1-FD17-488D-934C-AC7C7F58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28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A139-B8A1-D24E-D2BE-AAA543A02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AE04FE-12C7-6756-0CBA-6CDAEB1D29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76A27-9DAE-612D-DD1C-C349681C3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4A35C-1801-3F91-DC73-318E1BD59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4F624-D1EB-422C-9AA2-C8A01022507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A1265-A57E-8B14-6D3E-8E7FB436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78C80-BA9E-0060-5D2D-3144A3065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06B1-FD17-488D-934C-AC7C7F58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8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3BA2-CBEA-C198-6B88-1E4A90C6B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A8BF6-2CD6-EEB2-4F9A-F92D071EA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738FB-81F8-9E6B-BBA5-C3B62F89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4F624-D1EB-422C-9AA2-C8A01022507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A6256-EF5D-FD23-08A0-06A3CCB2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BE918-6CF2-D24D-F03F-26B1DCB5A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06B1-FD17-488D-934C-AC7C7F58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66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4FC0B0-0AC6-6889-C6B4-C8ACB7568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BE0A7-4C23-9FC5-CD0E-01F04EBD2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01C44-71B0-9823-BBFA-E8D7F5DE3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4F624-D1EB-422C-9AA2-C8A01022507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E5458-9B93-5E15-96BD-01E296955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6A5FE-430C-3586-6F8B-5282DBFE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A06B1-FD17-488D-934C-AC7C7F58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52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9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3EB278-0F94-9046-323E-856B09DF4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56C7-D8F6-F6A4-E189-35FB6C5CE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2D564-1D6F-C195-A148-21A6F3C16C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4F624-D1EB-422C-9AA2-C8A01022507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962ED-091D-5C95-9DBE-B3FAF6862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91793-ED90-14AB-3E14-D867BBA69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A06B1-FD17-488D-934C-AC7C7F58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9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openxmlformats.org/officeDocument/2006/relationships/image" Target="../media/image10.png"/><Relationship Id="rId18" Type="http://schemas.openxmlformats.org/officeDocument/2006/relationships/slide" Target="slide12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slide" Target="slide7.xml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slide" Target="slide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10" Type="http://schemas.openxmlformats.org/officeDocument/2006/relationships/slide" Target="slide9.xml"/><Relationship Id="rId19" Type="http://schemas.openxmlformats.org/officeDocument/2006/relationships/image" Target="../media/image13.jpg"/><Relationship Id="rId4" Type="http://schemas.openxmlformats.org/officeDocument/2006/relationships/slide" Target="slide5.xml"/><Relationship Id="rId9" Type="http://schemas.openxmlformats.org/officeDocument/2006/relationships/image" Target="../media/image8.png"/><Relationship Id="rId14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slide" Target="sl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slide" Target="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slide" Target="sl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slide" Target="slid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6CB17A8-0B99-4A83-68FA-8F721812C2B9}"/>
              </a:ext>
            </a:extLst>
          </p:cNvPr>
          <p:cNvSpPr txBox="1"/>
          <p:nvPr/>
        </p:nvSpPr>
        <p:spPr>
          <a:xfrm>
            <a:off x="2600638" y="1674673"/>
            <a:ext cx="6990723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TABLEAU DASHBOARD</a:t>
            </a:r>
          </a:p>
          <a:p>
            <a:pPr algn="ctr"/>
            <a:endParaRPr lang="en-US" sz="5400" b="1" dirty="0">
              <a:solidFill>
                <a:srgbClr val="C00000"/>
              </a:solidFill>
            </a:endParaRPr>
          </a:p>
          <a:p>
            <a:pPr algn="ctr"/>
            <a:endParaRPr lang="en-US" sz="5400" b="1" dirty="0">
              <a:solidFill>
                <a:srgbClr val="C00000"/>
              </a:solidFill>
            </a:endParaRPr>
          </a:p>
          <a:p>
            <a:pPr algn="ctr"/>
            <a:r>
              <a:rPr lang="en-US" sz="3200" b="1" dirty="0"/>
              <a:t>Data Analytics Project By Pavithra L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2002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C60FA3-4411-301C-42C3-D77C22EC0E30}"/>
              </a:ext>
            </a:extLst>
          </p:cNvPr>
          <p:cNvSpPr txBox="1"/>
          <p:nvPr/>
        </p:nvSpPr>
        <p:spPr>
          <a:xfrm>
            <a:off x="658750" y="144748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Manufacturing Defects Dashboard – 2024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4DFDD6-D8CD-DB27-1CA8-7457CCEE5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750" y="0"/>
            <a:ext cx="543725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B74015-482E-E6C1-4570-ABF2891EFD65}"/>
              </a:ext>
            </a:extLst>
          </p:cNvPr>
          <p:cNvSpPr txBox="1"/>
          <p:nvPr/>
        </p:nvSpPr>
        <p:spPr>
          <a:xfrm>
            <a:off x="570271" y="2969342"/>
            <a:ext cx="52799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This project presents a detailed analysis of manufacturing defects recorded in 2024.</a:t>
            </a:r>
            <a:br>
              <a:rPr lang="en-US" dirty="0"/>
            </a:br>
            <a:r>
              <a:rPr lang="en-US" dirty="0"/>
              <a:t>The study focuses on understanding the types of defects, their severity, associated repair costs, monthly trends, and the effectiveness of different inspection methods.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35D529-5DD3-24A1-DACC-4E57381164E6}"/>
              </a:ext>
            </a:extLst>
          </p:cNvPr>
          <p:cNvSpPr txBox="1"/>
          <p:nvPr/>
        </p:nvSpPr>
        <p:spPr>
          <a:xfrm>
            <a:off x="658750" y="1038376"/>
            <a:ext cx="1553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765925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5576F8-59F4-3BF8-8159-606837F76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2349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721E95-7DC8-4B99-AA5E-F59C50E9A432}"/>
              </a:ext>
            </a:extLst>
          </p:cNvPr>
          <p:cNvSpPr txBox="1"/>
          <p:nvPr/>
        </p:nvSpPr>
        <p:spPr>
          <a:xfrm>
            <a:off x="7081813" y="886791"/>
            <a:ext cx="50051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Project Objectives</a:t>
            </a:r>
            <a:endParaRPr lang="en-US" b="1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CC816-E08E-20C3-7F29-76539DC2D309}"/>
              </a:ext>
            </a:extLst>
          </p:cNvPr>
          <p:cNvSpPr txBox="1"/>
          <p:nvPr/>
        </p:nvSpPr>
        <p:spPr>
          <a:xfrm>
            <a:off x="5835705" y="1692643"/>
            <a:ext cx="5982670" cy="369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Identify defect types and severity levels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Measure repair cost impact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Study monthly defect trends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Evaluate performance of inspection methods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Provide data-driven recommendations</a:t>
            </a:r>
          </a:p>
          <a:p>
            <a:pPr>
              <a:lnSpc>
                <a:spcPct val="200000"/>
              </a:lnSpc>
            </a:pP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0AF043-86DB-156D-BB44-DB1FDDF32B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8" r="35827"/>
          <a:stretch>
            <a:fillRect/>
          </a:stretch>
        </p:blipFill>
        <p:spPr>
          <a:xfrm>
            <a:off x="373625" y="137652"/>
            <a:ext cx="5007399" cy="587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33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8A9AFD-3FEB-5895-51C4-B7630CB94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8"/>
            <a:ext cx="12192000" cy="6853584"/>
          </a:xfrm>
          <a:prstGeom prst="rect">
            <a:avLst/>
          </a:prstGeom>
        </p:spPr>
      </p:pic>
      <p:pic>
        <p:nvPicPr>
          <p:cNvPr id="5" name="Picture 4">
            <a:hlinkClick r:id="rId4" action="ppaction://hlinksldjump"/>
            <a:extLst>
              <a:ext uri="{FF2B5EF4-FFF2-40B4-BE49-F238E27FC236}">
                <a16:creationId xmlns:a16="http://schemas.microsoft.com/office/drawing/2014/main" id="{3A42EBCB-DD74-A4F0-8BE8-BA4367D24A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8" y="1231096"/>
            <a:ext cx="7883699" cy="1005251"/>
          </a:xfrm>
          <a:prstGeom prst="rect">
            <a:avLst/>
          </a:prstGeom>
        </p:spPr>
      </p:pic>
      <p:pic>
        <p:nvPicPr>
          <p:cNvPr id="7" name="Picture 6">
            <a:hlinkClick r:id="rId6" action="ppaction://hlinksldjump"/>
            <a:extLst>
              <a:ext uri="{FF2B5EF4-FFF2-40B4-BE49-F238E27FC236}">
                <a16:creationId xmlns:a16="http://schemas.microsoft.com/office/drawing/2014/main" id="{67AB655D-C33F-6043-41E2-29FC8C1C6E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064" y="4354137"/>
            <a:ext cx="3811572" cy="2244852"/>
          </a:xfrm>
          <a:prstGeom prst="rect">
            <a:avLst/>
          </a:prstGeom>
        </p:spPr>
      </p:pic>
      <p:pic>
        <p:nvPicPr>
          <p:cNvPr id="9" name="Picture 8">
            <a:hlinkClick r:id="rId8" action="ppaction://hlinksldjump"/>
            <a:extLst>
              <a:ext uri="{FF2B5EF4-FFF2-40B4-BE49-F238E27FC236}">
                <a16:creationId xmlns:a16="http://schemas.microsoft.com/office/drawing/2014/main" id="{F2976200-A1A2-BE3B-350E-BAAA1CC5DA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190" y="4603336"/>
            <a:ext cx="3640510" cy="1995654"/>
          </a:xfrm>
          <a:prstGeom prst="rect">
            <a:avLst/>
          </a:prstGeom>
        </p:spPr>
      </p:pic>
      <p:pic>
        <p:nvPicPr>
          <p:cNvPr id="11" name="Picture 10">
            <a:hlinkClick r:id="rId10" action="ppaction://hlinksldjump"/>
            <a:extLst>
              <a:ext uri="{FF2B5EF4-FFF2-40B4-BE49-F238E27FC236}">
                <a16:creationId xmlns:a16="http://schemas.microsoft.com/office/drawing/2014/main" id="{0EB964BE-0DBF-C3E5-4AFA-53C9116CE1B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9" y="4653333"/>
            <a:ext cx="3811572" cy="1945656"/>
          </a:xfrm>
          <a:prstGeom prst="rect">
            <a:avLst/>
          </a:prstGeom>
        </p:spPr>
      </p:pic>
      <p:pic>
        <p:nvPicPr>
          <p:cNvPr id="13" name="Picture 12">
            <a:hlinkClick r:id="rId12" action="ppaction://hlinksldjump"/>
            <a:extLst>
              <a:ext uri="{FF2B5EF4-FFF2-40B4-BE49-F238E27FC236}">
                <a16:creationId xmlns:a16="http://schemas.microsoft.com/office/drawing/2014/main" id="{F9B9A500-81E7-ADCB-7C32-A29E424D2C1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164" y="2443749"/>
            <a:ext cx="3621536" cy="1945656"/>
          </a:xfrm>
          <a:prstGeom prst="rect">
            <a:avLst/>
          </a:prstGeom>
        </p:spPr>
      </p:pic>
      <p:pic>
        <p:nvPicPr>
          <p:cNvPr id="15" name="Picture 14">
            <a:hlinkClick r:id="rId14" action="ppaction://hlinksldjump"/>
            <a:extLst>
              <a:ext uri="{FF2B5EF4-FFF2-40B4-BE49-F238E27FC236}">
                <a16:creationId xmlns:a16="http://schemas.microsoft.com/office/drawing/2014/main" id="{378C52DB-AC19-DF5D-D44B-A0DA6189E07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43" y="2397572"/>
            <a:ext cx="3696491" cy="1933311"/>
          </a:xfrm>
          <a:prstGeom prst="rect">
            <a:avLst/>
          </a:prstGeom>
        </p:spPr>
      </p:pic>
      <p:pic>
        <p:nvPicPr>
          <p:cNvPr id="17" name="Picture 16">
            <a:hlinkClick r:id="rId16" action="ppaction://hlinksldjump"/>
            <a:extLst>
              <a:ext uri="{FF2B5EF4-FFF2-40B4-BE49-F238E27FC236}">
                <a16:creationId xmlns:a16="http://schemas.microsoft.com/office/drawing/2014/main" id="{889E215A-3EBD-CE23-35C1-F6B07E255B8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262" y="1642061"/>
            <a:ext cx="3758395" cy="2455273"/>
          </a:xfrm>
          <a:prstGeom prst="rect">
            <a:avLst/>
          </a:prstGeom>
        </p:spPr>
      </p:pic>
      <p:pic>
        <p:nvPicPr>
          <p:cNvPr id="21" name="Picture 20">
            <a:hlinkClick r:id="rId18" action="ppaction://hlinksldjump"/>
            <a:extLst>
              <a:ext uri="{FF2B5EF4-FFF2-40B4-BE49-F238E27FC236}">
                <a16:creationId xmlns:a16="http://schemas.microsoft.com/office/drawing/2014/main" id="{345A461B-FBA7-5253-2616-2AD93808C37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700" y="189009"/>
            <a:ext cx="1266252" cy="126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07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D284B0-689D-B516-CB5C-834498A5B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9907"/>
            <a:ext cx="12192000" cy="3106909"/>
          </a:xfrm>
          <a:prstGeom prst="rect">
            <a:avLst/>
          </a:prstGeom>
        </p:spPr>
      </p:pic>
      <p:pic>
        <p:nvPicPr>
          <p:cNvPr id="8" name="Picture 7">
            <a:hlinkClick r:id="rId4" action="ppaction://hlinksldjump"/>
            <a:extLst>
              <a:ext uri="{FF2B5EF4-FFF2-40B4-BE49-F238E27FC236}">
                <a16:creationId xmlns:a16="http://schemas.microsoft.com/office/drawing/2014/main" id="{EF5984E9-5734-53CF-FCB8-BF27623741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2" y="6331974"/>
            <a:ext cx="30234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783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0994C-9C26-160C-A60A-BBCDE097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0AE6B4-05BB-9E58-7480-20C80B694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71" y="941009"/>
            <a:ext cx="6773220" cy="3953427"/>
          </a:xfrm>
          <a:prstGeom prst="rect">
            <a:avLst/>
          </a:prstGeom>
        </p:spPr>
      </p:pic>
      <p:pic>
        <p:nvPicPr>
          <p:cNvPr id="5" name="Picture 4">
            <a:hlinkClick r:id="rId4" action="ppaction://hlinksldjump"/>
            <a:extLst>
              <a:ext uri="{FF2B5EF4-FFF2-40B4-BE49-F238E27FC236}">
                <a16:creationId xmlns:a16="http://schemas.microsoft.com/office/drawing/2014/main" id="{44C98AA8-6D8F-2629-F5D3-C410B9D9F7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2" y="6331974"/>
            <a:ext cx="302341" cy="302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DB77F9-C522-EA10-28BF-964D13CAF111}"/>
              </a:ext>
            </a:extLst>
          </p:cNvPr>
          <p:cNvSpPr txBox="1"/>
          <p:nvPr/>
        </p:nvSpPr>
        <p:spPr>
          <a:xfrm>
            <a:off x="2119111" y="5547659"/>
            <a:ext cx="7698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Minor issues occur frequently, pointing to smaller process-level mistakes.</a:t>
            </a:r>
            <a:br>
              <a:rPr lang="en-US" dirty="0"/>
            </a:br>
            <a:r>
              <a:rPr lang="en-US" dirty="0"/>
              <a:t>But a high number of critical issues still indicates safety concerns.</a:t>
            </a:r>
          </a:p>
        </p:txBody>
      </p:sp>
    </p:spTree>
    <p:extLst>
      <p:ext uri="{BB962C8B-B14F-4D97-AF65-F5344CB8AC3E}">
        <p14:creationId xmlns:p14="http://schemas.microsoft.com/office/powerpoint/2010/main" val="16178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1B5AD1-A632-5153-C713-DA42D76B2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60" y="1440050"/>
            <a:ext cx="5744377" cy="3191320"/>
          </a:xfrm>
          <a:prstGeom prst="rect">
            <a:avLst/>
          </a:prstGeom>
        </p:spPr>
      </p:pic>
      <p:pic>
        <p:nvPicPr>
          <p:cNvPr id="4" name="Picture 3">
            <a:hlinkClick r:id="rId4" action="ppaction://hlinksldjump"/>
            <a:extLst>
              <a:ext uri="{FF2B5EF4-FFF2-40B4-BE49-F238E27FC236}">
                <a16:creationId xmlns:a16="http://schemas.microsoft.com/office/drawing/2014/main" id="{38B44BD4-09C6-778D-7B81-B1CB50BD49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2" y="6331974"/>
            <a:ext cx="302341" cy="3023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6D3E56-0954-87B0-1CFE-FCF16604C00F}"/>
              </a:ext>
            </a:extLst>
          </p:cNvPr>
          <p:cNvSpPr txBox="1"/>
          <p:nvPr/>
        </p:nvSpPr>
        <p:spPr>
          <a:xfrm>
            <a:off x="2359741" y="5643716"/>
            <a:ext cx="81157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Surface defects dominate → problems in finishing, polishing, coating, handling, or packaging.</a:t>
            </a:r>
          </a:p>
        </p:txBody>
      </p:sp>
    </p:spTree>
    <p:extLst>
      <p:ext uri="{BB962C8B-B14F-4D97-AF65-F5344CB8AC3E}">
        <p14:creationId xmlns:p14="http://schemas.microsoft.com/office/powerpoint/2010/main" val="4159126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0E333C-D56C-0C4A-841F-97A3E3A1E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343" y="983187"/>
            <a:ext cx="6297659" cy="4212204"/>
          </a:xfrm>
          <a:prstGeom prst="rect">
            <a:avLst/>
          </a:prstGeom>
        </p:spPr>
      </p:pic>
      <p:pic>
        <p:nvPicPr>
          <p:cNvPr id="4" name="Picture 3">
            <a:hlinkClick r:id="rId4" action="ppaction://hlinksldjump"/>
            <a:extLst>
              <a:ext uri="{FF2B5EF4-FFF2-40B4-BE49-F238E27FC236}">
                <a16:creationId xmlns:a16="http://schemas.microsoft.com/office/drawing/2014/main" id="{9D2EEF60-425E-E0B1-94B0-09629C8D25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2" y="6331974"/>
            <a:ext cx="302341" cy="3023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4971BF-11E7-9C9A-20A5-1B3EFEAA50E6}"/>
              </a:ext>
            </a:extLst>
          </p:cNvPr>
          <p:cNvSpPr txBox="1"/>
          <p:nvPr/>
        </p:nvSpPr>
        <p:spPr>
          <a:xfrm>
            <a:off x="2359742" y="5643716"/>
            <a:ext cx="76986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Structural defects are the most severe and most costly → root-cause analysis required.</a:t>
            </a:r>
          </a:p>
        </p:txBody>
      </p:sp>
    </p:spTree>
    <p:extLst>
      <p:ext uri="{BB962C8B-B14F-4D97-AF65-F5344CB8AC3E}">
        <p14:creationId xmlns:p14="http://schemas.microsoft.com/office/powerpoint/2010/main" val="1455175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A759D5-E6D6-7779-8B79-D07FDE630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522" y="2342998"/>
            <a:ext cx="6134956" cy="2172003"/>
          </a:xfrm>
          <a:prstGeom prst="rect">
            <a:avLst/>
          </a:prstGeom>
        </p:spPr>
      </p:pic>
      <p:pic>
        <p:nvPicPr>
          <p:cNvPr id="4" name="Picture 3">
            <a:hlinkClick r:id="rId4" action="ppaction://hlinksldjump"/>
            <a:extLst>
              <a:ext uri="{FF2B5EF4-FFF2-40B4-BE49-F238E27FC236}">
                <a16:creationId xmlns:a16="http://schemas.microsoft.com/office/drawing/2014/main" id="{C2732058-8A5D-2012-98D1-BD0B9DF48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2" y="6331974"/>
            <a:ext cx="302341" cy="3023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E79D26-614E-BF03-A9A2-638637D339A0}"/>
              </a:ext>
            </a:extLst>
          </p:cNvPr>
          <p:cNvSpPr txBox="1"/>
          <p:nvPr/>
        </p:nvSpPr>
        <p:spPr>
          <a:xfrm>
            <a:off x="3028522" y="5243699"/>
            <a:ext cx="6561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Structural defects have the worst financial impact.</a:t>
            </a:r>
            <a:br>
              <a:rPr lang="en-US" dirty="0"/>
            </a:br>
            <a:r>
              <a:rPr lang="en-US" dirty="0"/>
              <a:t>Cost saving is possible by reducing structural problems first.</a:t>
            </a:r>
          </a:p>
        </p:txBody>
      </p:sp>
    </p:spTree>
    <p:extLst>
      <p:ext uri="{BB962C8B-B14F-4D97-AF65-F5344CB8AC3E}">
        <p14:creationId xmlns:p14="http://schemas.microsoft.com/office/powerpoint/2010/main" val="3146664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7F0AE2-519D-8295-DAAD-C4CAFEA54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627" y="2090550"/>
            <a:ext cx="6058746" cy="2676899"/>
          </a:xfrm>
          <a:prstGeom prst="rect">
            <a:avLst/>
          </a:prstGeom>
        </p:spPr>
      </p:pic>
      <p:pic>
        <p:nvPicPr>
          <p:cNvPr id="4" name="Picture 3">
            <a:hlinkClick r:id="rId4" action="ppaction://hlinksldjump"/>
            <a:extLst>
              <a:ext uri="{FF2B5EF4-FFF2-40B4-BE49-F238E27FC236}">
                <a16:creationId xmlns:a16="http://schemas.microsoft.com/office/drawing/2014/main" id="{B877672A-4EA4-0D1D-2A4C-866F4917F6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2" y="6331974"/>
            <a:ext cx="302341" cy="3023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06A70E-227C-1CBD-7F9A-4EE113FCE6C3}"/>
              </a:ext>
            </a:extLst>
          </p:cNvPr>
          <p:cNvSpPr txBox="1"/>
          <p:nvPr/>
        </p:nvSpPr>
        <p:spPr>
          <a:xfrm>
            <a:off x="3066627" y="5282815"/>
            <a:ext cx="7521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Defects show a downward trend → consistent improvement in production </a:t>
            </a:r>
          </a:p>
          <a:p>
            <a:r>
              <a:rPr lang="en-US" dirty="0" err="1"/>
              <a:t>quality.January</a:t>
            </a:r>
            <a:r>
              <a:rPr lang="en-US" dirty="0"/>
              <a:t> 191 to </a:t>
            </a:r>
            <a:r>
              <a:rPr lang="en-US" dirty="0" err="1"/>
              <a:t>june</a:t>
            </a:r>
            <a:r>
              <a:rPr lang="en-US" dirty="0"/>
              <a:t> 151</a:t>
            </a:r>
          </a:p>
        </p:txBody>
      </p:sp>
    </p:spTree>
    <p:extLst>
      <p:ext uri="{BB962C8B-B14F-4D97-AF65-F5344CB8AC3E}">
        <p14:creationId xmlns:p14="http://schemas.microsoft.com/office/powerpoint/2010/main" val="20542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3F49F2-581E-0329-70F3-12D527A3F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311" y="1685681"/>
            <a:ext cx="5925377" cy="3486637"/>
          </a:xfrm>
          <a:prstGeom prst="rect">
            <a:avLst/>
          </a:prstGeom>
        </p:spPr>
      </p:pic>
      <p:pic>
        <p:nvPicPr>
          <p:cNvPr id="4" name="Picture 3">
            <a:hlinkClick r:id="rId4" action="ppaction://hlinksldjump"/>
            <a:extLst>
              <a:ext uri="{FF2B5EF4-FFF2-40B4-BE49-F238E27FC236}">
                <a16:creationId xmlns:a16="http://schemas.microsoft.com/office/drawing/2014/main" id="{DD300859-6DCB-7947-55B5-F9C7FA3887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2" y="6331974"/>
            <a:ext cx="302341" cy="3023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058616-408A-E7FC-D065-03C793C4FF5E}"/>
              </a:ext>
            </a:extLst>
          </p:cNvPr>
          <p:cNvSpPr txBox="1"/>
          <p:nvPr/>
        </p:nvSpPr>
        <p:spPr>
          <a:xfrm>
            <a:off x="2654710" y="5309419"/>
            <a:ext cx="7981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Manual and visual methods capture more defects.</a:t>
            </a:r>
            <a:br>
              <a:rPr lang="en-US" dirty="0"/>
            </a:br>
            <a:r>
              <a:rPr lang="en-US" dirty="0"/>
              <a:t>Automation is useful but needs enhancement to detect complex defects.</a:t>
            </a:r>
          </a:p>
        </p:txBody>
      </p:sp>
    </p:spTree>
    <p:extLst>
      <p:ext uri="{BB962C8B-B14F-4D97-AF65-F5344CB8AC3E}">
        <p14:creationId xmlns:p14="http://schemas.microsoft.com/office/powerpoint/2010/main" val="794589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9E59FF-5D1C-0823-D698-72EC21BA7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18" y="621360"/>
            <a:ext cx="11330723" cy="593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142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0261D7-E81F-9E4D-D2D3-5D048F578995}"/>
              </a:ext>
            </a:extLst>
          </p:cNvPr>
          <p:cNvSpPr txBox="1"/>
          <p:nvPr/>
        </p:nvSpPr>
        <p:spPr>
          <a:xfrm>
            <a:off x="6203858" y="4480647"/>
            <a:ext cx="4600823" cy="923330"/>
          </a:xfrm>
          <a:prstGeom prst="rect">
            <a:avLst/>
          </a:prstGeom>
          <a:solidFill>
            <a:srgbClr val="FFC9C9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Data-Driven Decisions</a:t>
            </a:r>
          </a:p>
          <a:p>
            <a:r>
              <a:rPr lang="en-US" dirty="0"/>
              <a:t>Helps management with clear, data-driven decisions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2C174E-7CB4-0D1E-AFF9-1F3EE1618B1F}"/>
              </a:ext>
            </a:extLst>
          </p:cNvPr>
          <p:cNvSpPr txBox="1"/>
          <p:nvPr/>
        </p:nvSpPr>
        <p:spPr>
          <a:xfrm>
            <a:off x="6203858" y="1846619"/>
            <a:ext cx="4600824" cy="923330"/>
          </a:xfrm>
          <a:prstGeom prst="rect">
            <a:avLst/>
          </a:prstGeom>
          <a:solidFill>
            <a:srgbClr val="FFC9C9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360° Quality View</a:t>
            </a:r>
          </a:p>
          <a:p>
            <a:r>
              <a:rPr lang="en-US" dirty="0"/>
              <a:t>Dashboard provides a comprehensive view of manufacturing quality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5CD779-9FCC-814F-F899-585F986C6D10}"/>
              </a:ext>
            </a:extLst>
          </p:cNvPr>
          <p:cNvSpPr txBox="1"/>
          <p:nvPr/>
        </p:nvSpPr>
        <p:spPr>
          <a:xfrm>
            <a:off x="7098591" y="3075286"/>
            <a:ext cx="4600824" cy="923330"/>
          </a:xfrm>
          <a:prstGeom prst="rect">
            <a:avLst/>
          </a:prstGeom>
          <a:solidFill>
            <a:srgbClr val="FFC9C9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Cost Reduction</a:t>
            </a:r>
          </a:p>
          <a:p>
            <a:r>
              <a:rPr lang="en-US" dirty="0"/>
              <a:t>Supports cost reduction and quality improvement initiatives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2A50BF-5D25-C96D-297C-28CE8F68D72B}"/>
              </a:ext>
            </a:extLst>
          </p:cNvPr>
          <p:cNvSpPr txBox="1"/>
          <p:nvPr/>
        </p:nvSpPr>
        <p:spPr>
          <a:xfrm>
            <a:off x="7098592" y="5660153"/>
            <a:ext cx="4600823" cy="880369"/>
          </a:xfrm>
          <a:prstGeom prst="rect">
            <a:avLst/>
          </a:prstGeom>
          <a:solidFill>
            <a:srgbClr val="FFC9C9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Better Efficiency</a:t>
            </a:r>
          </a:p>
          <a:p>
            <a:pPr>
              <a:lnSpc>
                <a:spcPct val="150000"/>
              </a:lnSpc>
            </a:pPr>
            <a:r>
              <a:rPr lang="en-US" dirty="0"/>
              <a:t>Ensures better efficiency and fewer defects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8FEC3D-165F-4CB2-A4C0-FA71570D2D04}"/>
              </a:ext>
            </a:extLst>
          </p:cNvPr>
          <p:cNvSpPr txBox="1"/>
          <p:nvPr/>
        </p:nvSpPr>
        <p:spPr>
          <a:xfrm>
            <a:off x="6096000" y="543775"/>
            <a:ext cx="3039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rgbClr val="9A0000"/>
                </a:solidFill>
                <a:latin typeface="Agency FB" panose="020B0503020202020204" pitchFamily="34" charset="0"/>
              </a:rPr>
              <a:t>Conclusion</a:t>
            </a:r>
            <a:endParaRPr lang="en-US" b="1" u="sng" dirty="0">
              <a:solidFill>
                <a:srgbClr val="9A0000"/>
              </a:solidFill>
              <a:latin typeface="Agency FB" panose="020B0503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0C9523-8E96-7DB7-998B-D8064447F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31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03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2692AF-4B0E-1123-E432-6EFF71397595}"/>
              </a:ext>
            </a:extLst>
          </p:cNvPr>
          <p:cNvSpPr txBox="1"/>
          <p:nvPr/>
        </p:nvSpPr>
        <p:spPr>
          <a:xfrm>
            <a:off x="2674374" y="2045110"/>
            <a:ext cx="684325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latin typeface="Artifact" panose="020005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4519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795</Words>
  <Application>Microsoft Office PowerPoint</Application>
  <PresentationFormat>Widescreen</PresentationFormat>
  <Paragraphs>52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Agency FB</vt:lpstr>
      <vt:lpstr>Arial</vt:lpstr>
      <vt:lpstr>Artifact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 L</dc:creator>
  <cp:lastModifiedBy>PAVITHRA L</cp:lastModifiedBy>
  <cp:revision>8</cp:revision>
  <dcterms:created xsi:type="dcterms:W3CDTF">2025-11-21T09:05:23Z</dcterms:created>
  <dcterms:modified xsi:type="dcterms:W3CDTF">2025-11-22T04:17:24Z</dcterms:modified>
</cp:coreProperties>
</file>